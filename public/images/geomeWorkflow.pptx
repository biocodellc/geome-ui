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DE66-68A0-AEDC-4120-AD75545B8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15998-0367-5E5A-DB9C-D248E174D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7F2F7-5DDE-69AF-7E1D-85B54A39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56163-EEC0-0B69-9DC6-1F584D72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1A6D-8C6E-BFD0-4F1E-D6506EA6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1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58DB-22A5-59DE-8B46-EC48A6E6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8A329-FC13-710B-5423-9BDCC6FB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6E446-7351-970F-DEF4-3AEBC4F3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7299-A65A-BAFB-8248-DFD6B3FE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F0701-0BFD-BA46-DD73-EDA46A63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1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B2DC-F856-33CD-B4C1-6187033A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20E16-D3AC-C41E-B910-380020D98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5E2F0-605E-CF0E-6E1B-5C7AB051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433A2-D118-5908-6A81-34D05DB7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E493C-DE46-4965-D028-08B79F5E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130C-ACD5-67B0-5E6A-3F3EBE07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4ACDD-9866-EB0B-FBB2-0E858FA1D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553D9-5C7C-75F1-3B86-2C46B24C0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A5CD9-8A0D-D622-8421-4AFDB1A5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971A5-4117-F39F-5188-D1A56931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54BB2-C7CF-C621-802D-C08E56D0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42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1BF1-AC13-483C-65F2-424DB370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A2550-71ED-DA60-8421-0565166B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B068A-6EA5-56B2-8BE9-397014E79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2AAA0-6C8D-DE92-46AF-7E6A97135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2F294-ACD0-92E4-D4AA-104103AAD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9476B-6677-1D37-0DB5-387EC7DD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73B15-EF36-D69E-42CF-600ACAD2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2411C-3C30-4585-022D-C7DC5CD3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1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725A-F93A-4D25-B30F-59376D8C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A10BD-F775-65EC-CC91-A9F70995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1F747-15B9-7B01-8B9E-E3AFBCC1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DA3B6-FCBF-A98A-E32E-282518A4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1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58FCC-3EC6-9BC9-A62F-AE7BD649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ACEC0-1BE7-167C-59AC-5C898572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D678A-7588-9165-8E8C-1034A786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3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6ED3-F7C3-CE0E-0C98-CB0189CF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F052-2A47-7118-C784-BA64FD645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34C57-C244-60AD-00D8-C620D9562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8F914-2194-95EC-8AE6-53A519EA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88FC1-6C38-6DBE-EEF8-5BFB9D674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575D0-6835-2CAF-B65C-C0272EC2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9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C895-5991-FBB8-095F-17F920B5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76BF5-D7EA-E712-4D63-592882D86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5ED9E-BBF5-E790-E473-C8B362190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9E17D-B353-069E-2CD1-4994AD99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3F9C5-AFE4-98C5-2542-5CE72037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C8CD2-B2F4-0D4E-2F0A-7145BCA9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8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F93D-BA21-8301-B52B-77B168B0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0B5DC-DA91-8073-3BE0-E62843C2A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B3230-CB8A-FF9E-886A-335C66E5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12227-AC73-6B0A-26D8-601E8F77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279F5-719D-04AC-50DF-A02BD58B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7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92CF-9A27-BB7E-9119-0D21BCF87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3A6C-074C-5AB5-2066-7BEAD6F7B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3E0F8-D0B2-D3A2-4196-293C2582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F3BA3-3F1E-ABCA-B94A-D5496DFB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043E1-B7BA-1E14-C2D8-3947AD47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6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72446-A9A3-89C3-154D-B93FE145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182A-7284-9EFD-66B9-D02C779D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200B-47B4-A69D-88FF-E4AD050AE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C7326-2AF8-734F-A684-D3076EFEC837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94040-F2DC-B558-4BC5-FCEC22796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A5BEB-82B1-9BAF-362A-8B1887B5A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23221-0D49-3A4E-A9E9-5E5DEFB15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8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75982" y="1718745"/>
            <a:ext cx="1535723" cy="8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Spreadsheet Template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9785" y="1718746"/>
            <a:ext cx="1654095" cy="8968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Enter Metadata via Spreadsheet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1965" y="3129334"/>
            <a:ext cx="1669200" cy="8968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Load and Validate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6213" y="3819170"/>
            <a:ext cx="1654095" cy="8968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Upload FASTA Files</a:t>
            </a:r>
          </a:p>
        </p:txBody>
      </p:sp>
      <p:cxnSp>
        <p:nvCxnSpPr>
          <p:cNvPr id="21" name="Curved Connector 20"/>
          <p:cNvCxnSpPr>
            <a:cxnSpLocks/>
            <a:stCxn id="7" idx="3"/>
            <a:endCxn id="6" idx="1"/>
          </p:cNvCxnSpPr>
          <p:nvPr/>
        </p:nvCxnSpPr>
        <p:spPr>
          <a:xfrm flipV="1">
            <a:off x="4710308" y="3577741"/>
            <a:ext cx="1121657" cy="689837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cxnSpLocks/>
            <a:stCxn id="5" idx="3"/>
            <a:endCxn id="6" idx="1"/>
          </p:cNvCxnSpPr>
          <p:nvPr/>
        </p:nvCxnSpPr>
        <p:spPr>
          <a:xfrm>
            <a:off x="4723880" y="2167154"/>
            <a:ext cx="1108085" cy="1410587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4" idx="3"/>
            <a:endCxn id="5" idx="1"/>
          </p:cNvCxnSpPr>
          <p:nvPr/>
        </p:nvCxnSpPr>
        <p:spPr>
          <a:xfrm>
            <a:off x="2011705" y="2167153"/>
            <a:ext cx="1058080" cy="1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58504" y="3159318"/>
            <a:ext cx="2148343" cy="89681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Sequence Read Archive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5442" y="6363296"/>
            <a:ext cx="2558656" cy="3812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External Components</a:t>
            </a:r>
            <a:endParaRPr lang="en-US" sz="1600" dirty="0"/>
          </a:p>
        </p:txBody>
      </p:sp>
      <p:sp>
        <p:nvSpPr>
          <p:cNvPr id="40" name="Rounded Rectangle 39"/>
          <p:cNvSpPr/>
          <p:nvPr/>
        </p:nvSpPr>
        <p:spPr>
          <a:xfrm>
            <a:off x="160647" y="5914889"/>
            <a:ext cx="2563451" cy="381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User-level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7684" y="4489851"/>
            <a:ext cx="2145233" cy="900268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Global Biodiversity Information Facility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5615" y="5804440"/>
            <a:ext cx="1669200" cy="8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 Interface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56213" y="4895435"/>
            <a:ext cx="1654095" cy="8968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FASTQ Metadata and filenames</a:t>
            </a:r>
          </a:p>
        </p:txBody>
      </p:sp>
      <p:cxnSp>
        <p:nvCxnSpPr>
          <p:cNvPr id="37" name="Curved Connector 36"/>
          <p:cNvCxnSpPr>
            <a:cxnSpLocks/>
            <a:stCxn id="34" idx="3"/>
            <a:endCxn id="6" idx="1"/>
          </p:cNvCxnSpPr>
          <p:nvPr/>
        </p:nvCxnSpPr>
        <p:spPr>
          <a:xfrm flipV="1">
            <a:off x="4710308" y="3577741"/>
            <a:ext cx="1121657" cy="1766102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cxnSpLocks/>
            <a:stCxn id="6" idx="2"/>
            <a:endCxn id="22" idx="0"/>
          </p:cNvCxnSpPr>
          <p:nvPr/>
        </p:nvCxnSpPr>
        <p:spPr>
          <a:xfrm rot="16200000" flipH="1">
            <a:off x="8496582" y="2196131"/>
            <a:ext cx="463703" cy="4123736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cxnSpLocks/>
          </p:cNvCxnSpPr>
          <p:nvPr/>
        </p:nvCxnSpPr>
        <p:spPr>
          <a:xfrm>
            <a:off x="7572599" y="3686800"/>
            <a:ext cx="2009845" cy="0"/>
          </a:xfrm>
          <a:prstGeom prst="straightConnector1">
            <a:avLst/>
          </a:prstGeom>
          <a:ln w="22225">
            <a:solidFill>
              <a:schemeClr val="tx1"/>
            </a:solidFill>
            <a:prstDash val="dashDot"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cxnSpLocks/>
          </p:cNvCxnSpPr>
          <p:nvPr/>
        </p:nvCxnSpPr>
        <p:spPr>
          <a:xfrm flipH="1" flipV="1">
            <a:off x="7527521" y="3467530"/>
            <a:ext cx="2085903" cy="12075"/>
          </a:xfrm>
          <a:prstGeom prst="straightConnector1">
            <a:avLst/>
          </a:prstGeom>
          <a:ln w="222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756983" y="3686800"/>
            <a:ext cx="1717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User submission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03579" y="3110273"/>
            <a:ext cx="2114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Accession ID Harvest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CCE1EAB-0111-7B46-87B0-F49164A070EF}"/>
              </a:ext>
            </a:extLst>
          </p:cNvPr>
          <p:cNvSpPr/>
          <p:nvPr/>
        </p:nvSpPr>
        <p:spPr>
          <a:xfrm>
            <a:off x="3056213" y="2770134"/>
            <a:ext cx="1654095" cy="8968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Load Specimen and Event Photos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A735B15-6450-024B-83F2-ECFA56A65EAB}"/>
              </a:ext>
            </a:extLst>
          </p:cNvPr>
          <p:cNvSpPr/>
          <p:nvPr/>
        </p:nvSpPr>
        <p:spPr>
          <a:xfrm>
            <a:off x="435290" y="195569"/>
            <a:ext cx="1617106" cy="8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Create Project</a:t>
            </a:r>
          </a:p>
          <a:p>
            <a:pPr algn="ctr"/>
            <a:r>
              <a:rPr lang="en-US" sz="1600" dirty="0"/>
              <a:t>set validation rules</a:t>
            </a:r>
          </a:p>
        </p:txBody>
      </p: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A279833E-A50F-284C-ABC6-BB65CBF5AEEE}"/>
              </a:ext>
            </a:extLst>
          </p:cNvPr>
          <p:cNvCxnSpPr>
            <a:cxnSpLocks/>
            <a:stCxn id="39" idx="2"/>
            <a:endCxn id="4" idx="0"/>
          </p:cNvCxnSpPr>
          <p:nvPr/>
        </p:nvCxnSpPr>
        <p:spPr>
          <a:xfrm rot="16200000" flipH="1">
            <a:off x="930663" y="1405563"/>
            <a:ext cx="626361" cy="1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B4908C83-9B43-404D-8EB4-8CCDAF0CEF55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>
            <a:off x="4710308" y="3218542"/>
            <a:ext cx="1121657" cy="359199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84D1A8C-7735-1046-B160-A8AE4251BF6B}"/>
              </a:ext>
            </a:extLst>
          </p:cNvPr>
          <p:cNvSpPr/>
          <p:nvPr/>
        </p:nvSpPr>
        <p:spPr>
          <a:xfrm>
            <a:off x="5831964" y="1718747"/>
            <a:ext cx="1669201" cy="8968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Plate-based Tissue Loading</a:t>
            </a:r>
          </a:p>
        </p:txBody>
      </p:sp>
      <p:cxnSp>
        <p:nvCxnSpPr>
          <p:cNvPr id="110" name="Curved Connector 109">
            <a:extLst>
              <a:ext uri="{FF2B5EF4-FFF2-40B4-BE49-F238E27FC236}">
                <a16:creationId xmlns:a16="http://schemas.microsoft.com/office/drawing/2014/main" id="{FAF64B96-1461-2445-9F86-03E4DB6E926B}"/>
              </a:ext>
            </a:extLst>
          </p:cNvPr>
          <p:cNvCxnSpPr>
            <a:cxnSpLocks/>
            <a:stCxn id="57" idx="2"/>
            <a:endCxn id="6" idx="0"/>
          </p:cNvCxnSpPr>
          <p:nvPr/>
        </p:nvCxnSpPr>
        <p:spPr>
          <a:xfrm rot="5400000">
            <a:off x="6409679" y="2872447"/>
            <a:ext cx="513773" cy="12700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8A6CB4E2-87B4-4241-99E9-F0CC734CEF40}"/>
              </a:ext>
            </a:extLst>
          </p:cNvPr>
          <p:cNvSpPr/>
          <p:nvPr/>
        </p:nvSpPr>
        <p:spPr>
          <a:xfrm>
            <a:off x="7639505" y="5809217"/>
            <a:ext cx="1669200" cy="8968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 package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F9991B2-B3F3-6048-B187-33F8BEC5C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278" y="4572690"/>
            <a:ext cx="757874" cy="757874"/>
          </a:xfrm>
          <a:prstGeom prst="rect">
            <a:avLst/>
          </a:prstGeom>
        </p:spPr>
      </p:pic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A05F65DB-7446-E940-82B7-DC24D75213D5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rot="5400000">
            <a:off x="6390119" y="4296244"/>
            <a:ext cx="546542" cy="6350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64058D63-887B-1D4A-AB92-B1570D7D4C69}"/>
              </a:ext>
            </a:extLst>
          </p:cNvPr>
          <p:cNvCxnSpPr>
            <a:cxnSpLocks/>
            <a:stCxn id="116" idx="2"/>
            <a:endCxn id="19" idx="0"/>
          </p:cNvCxnSpPr>
          <p:nvPr/>
        </p:nvCxnSpPr>
        <p:spPr>
          <a:xfrm rot="5400000">
            <a:off x="6423277" y="5567502"/>
            <a:ext cx="473876" cy="12700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urved Connector 122">
            <a:extLst>
              <a:ext uri="{FF2B5EF4-FFF2-40B4-BE49-F238E27FC236}">
                <a16:creationId xmlns:a16="http://schemas.microsoft.com/office/drawing/2014/main" id="{2AAF8D19-EFCC-2348-AEC0-75E31563155E}"/>
              </a:ext>
            </a:extLst>
          </p:cNvPr>
          <p:cNvCxnSpPr>
            <a:cxnSpLocks/>
            <a:stCxn id="116" idx="2"/>
            <a:endCxn id="115" idx="0"/>
          </p:cNvCxnSpPr>
          <p:nvPr/>
        </p:nvCxnSpPr>
        <p:spPr>
          <a:xfrm rot="16200000" flipH="1">
            <a:off x="7327834" y="4662945"/>
            <a:ext cx="478653" cy="1813890"/>
          </a:xfrm>
          <a:prstGeom prst="curvedConnector3">
            <a:avLst>
              <a:gd name="adj1" fmla="val 50000"/>
            </a:avLst>
          </a:prstGeom>
          <a:ln w="2540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CF8FC5B-AC2D-A440-96B7-9CA4BA8DC778}"/>
              </a:ext>
            </a:extLst>
          </p:cNvPr>
          <p:cNvSpPr/>
          <p:nvPr/>
        </p:nvSpPr>
        <p:spPr>
          <a:xfrm>
            <a:off x="9717684" y="5569890"/>
            <a:ext cx="2145233" cy="900268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Barcode of Life Database (BOLD)</a:t>
            </a:r>
          </a:p>
        </p:txBody>
      </p: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AE055BAF-2756-384B-834A-71FAD9926EB6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7420252" y="3272461"/>
            <a:ext cx="1543744" cy="3051118"/>
          </a:xfrm>
          <a:prstGeom prst="curvedConnector2">
            <a:avLst/>
          </a:prstGeom>
          <a:ln w="25400" cap="rnd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038D4AD-3A28-D047-BA75-76BFBB10B94E}"/>
              </a:ext>
            </a:extLst>
          </p:cNvPr>
          <p:cNvSpPr txBox="1"/>
          <p:nvPr/>
        </p:nvSpPr>
        <p:spPr>
          <a:xfrm>
            <a:off x="7486060" y="4538646"/>
            <a:ext cx="2319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Optional submissions</a:t>
            </a:r>
          </a:p>
        </p:txBody>
      </p:sp>
    </p:spTree>
    <p:extLst>
      <p:ext uri="{BB962C8B-B14F-4D97-AF65-F5344CB8AC3E}">
        <p14:creationId xmlns:p14="http://schemas.microsoft.com/office/powerpoint/2010/main" val="18186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59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Deck</dc:creator>
  <cp:lastModifiedBy>Microsoft Office User</cp:lastModifiedBy>
  <cp:revision>20</cp:revision>
  <dcterms:created xsi:type="dcterms:W3CDTF">2016-04-15T21:37:23Z</dcterms:created>
  <dcterms:modified xsi:type="dcterms:W3CDTF">2026-03-25T21:57:28Z</dcterms:modified>
</cp:coreProperties>
</file>